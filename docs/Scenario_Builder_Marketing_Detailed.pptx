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ctr" indent="0" marL="0">
              <a:buNone/>
            </a:pPr>
            <a:r>
              <a:rPr lang="en-US" sz="4400" b="1" dirty="0">
                <a:solidFill>
                  <a:srgbClr val="FFFFFF"/>
                </a:solidFill>
              </a:rPr>
              <a:t>Scenario Builder</a:t>
            </a:r>
            <a:endParaRPr lang="en-US" sz="4400" dirty="0"/>
          </a:p>
        </p:txBody>
      </p:sp>
      <p:sp>
        <p:nvSpPr>
          <p:cNvPr id="3" name="Text 1"/>
          <p:cNvSpPr/>
          <p:nvPr/>
        </p:nvSpPr>
        <p:spPr>
          <a:xfrm>
            <a:off x="457200" y="2377440"/>
            <a:ext cx="8229600" cy="457200"/>
          </a:xfrm>
          <a:prstGeom prst="rect">
            <a:avLst/>
          </a:prstGeom>
          <a:noFill/>
          <a:ln/>
        </p:spPr>
        <p:txBody>
          <a:bodyPr wrap="square" rtlCol="0" anchor="ctr"/>
          <a:lstStyle/>
          <a:p>
            <a:pPr algn="ctr" indent="0" marL="0">
              <a:buNone/>
            </a:pPr>
            <a:r>
              <a:rPr lang="en-US" sz="2200" dirty="0">
                <a:solidFill>
                  <a:srgbClr val="B0B0B0"/>
                </a:solidFill>
              </a:rPr>
              <a:t>One platform for scenario-based training and assessment</a:t>
            </a:r>
            <a:endParaRPr lang="en-US" sz="2200" dirty="0"/>
          </a:p>
        </p:txBody>
      </p:sp>
      <p:sp>
        <p:nvSpPr>
          <p:cNvPr id="4" name="Text 2"/>
          <p:cNvSpPr/>
          <p:nvPr/>
        </p:nvSpPr>
        <p:spPr>
          <a:xfrm>
            <a:off x="457200" y="3108960"/>
            <a:ext cx="8229600" cy="365760"/>
          </a:xfrm>
          <a:prstGeom prst="rect">
            <a:avLst/>
          </a:prstGeom>
          <a:noFill/>
          <a:ln/>
        </p:spPr>
        <p:txBody>
          <a:bodyPr wrap="square" rtlCol="0" anchor="ctr"/>
          <a:lstStyle/>
          <a:p>
            <a:pPr algn="ctr" indent="0" marL="0">
              <a:buNone/>
            </a:pPr>
            <a:r>
              <a:rPr lang="en-US" sz="1600" i="1" dirty="0">
                <a:solidFill>
                  <a:srgbClr val="CBD5E0"/>
                </a:solidFill>
              </a:rPr>
              <a:t>From scenario to score — one coherent experience.</a:t>
            </a:r>
            <a:endParaRPr lang="en-US" sz="1600" dirty="0"/>
          </a:p>
        </p:txBody>
      </p:sp>
      <p:sp>
        <p:nvSpPr>
          <p:cNvPr id="5" name="Text 3"/>
          <p:cNvSpPr/>
          <p:nvPr/>
        </p:nvSpPr>
        <p:spPr>
          <a:xfrm>
            <a:off x="457200" y="4572000"/>
            <a:ext cx="8229600" cy="320040"/>
          </a:xfrm>
          <a:prstGeom prst="rect">
            <a:avLst/>
          </a:prstGeom>
          <a:noFill/>
          <a:ln/>
        </p:spPr>
        <p:txBody>
          <a:bodyPr wrap="square" rtlCol="0" anchor="ctr"/>
          <a:lstStyle/>
          <a:p>
            <a:pPr algn="ctr" indent="0" marL="0">
              <a:buNone/>
            </a:pPr>
            <a:r>
              <a:rPr lang="en-US" sz="1200" dirty="0">
                <a:solidFill>
                  <a:srgbClr val="A0AEC0"/>
                </a:solidFill>
              </a:rPr>
              <a:t>Netcompany — Research &amp; Innovation Development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A365D"/>
                </a:solidFill>
              </a:rPr>
              <a:t>The Challenge</a:t>
            </a:r>
            <a:endParaRPr lang="en-US" sz="3200" dirty="0"/>
          </a:p>
        </p:txBody>
      </p:sp>
      <p:sp>
        <p:nvSpPr>
          <p:cNvPr id="3" name="Text 1"/>
          <p:cNvSpPr/>
          <p:nvPr/>
        </p:nvSpPr>
        <p:spPr>
          <a:xfrm>
            <a:off x="457200" y="868680"/>
            <a:ext cx="8229600" cy="320040"/>
          </a:xfrm>
          <a:prstGeom prst="rect">
            <a:avLst/>
          </a:prstGeom>
          <a:noFill/>
          <a:ln/>
        </p:spPr>
        <p:txBody>
          <a:bodyPr wrap="square" rtlCol="0" anchor="ctr"/>
          <a:lstStyle/>
          <a:p>
            <a:pPr indent="0" marL="0">
              <a:buNone/>
            </a:pPr>
            <a:r>
              <a:rPr lang="en-US" sz="1800" dirty="0">
                <a:solidFill>
                  <a:srgbClr val="2D3748"/>
                </a:solidFill>
              </a:rPr>
              <a:t>Training and assessment teams often face:</a:t>
            </a:r>
            <a:endParaRPr lang="en-US" sz="1800" dirty="0"/>
          </a:p>
        </p:txBody>
      </p:sp>
      <p:sp>
        <p:nvSpPr>
          <p:cNvPr id="4" name="Text 2"/>
          <p:cNvSpPr/>
          <p:nvPr/>
        </p:nvSpPr>
        <p:spPr>
          <a:xfrm>
            <a:off x="548640" y="1325880"/>
            <a:ext cx="8046720" cy="2560320"/>
          </a:xfrm>
          <a:prstGeom prst="rect">
            <a:avLst/>
          </a:prstGeom>
          <a:noFill/>
          <a:ln/>
        </p:spPr>
        <p:txBody>
          <a:bodyPr wrap="square" rtlCol="0" anchor="t"/>
          <a:lstStyle/>
          <a:p>
            <a:pPr indent="0" marL="0">
              <a:buNone/>
            </a:pPr>
            <a:r>
              <a:rPr lang="en-US" sz="1400" dirty="0">
                <a:solidFill>
                  <a:srgbClr val="2D3748"/>
                </a:solidFill>
              </a:rPr>
              <a:t>• Fragmented tools — scenario catalogues, exercises, and analytics live in different systems or spreadsheets</a:t>
            </a:r>
            <a:endParaRPr lang="en-US" sz="1400" dirty="0"/>
          </a:p>
          <a:p>
            <a:pPr indent="0" marL="0">
              <a:buNone/>
            </a:pPr>
            <a:r>
              <a:rPr lang="en-US" sz="1400" dirty="0">
                <a:solidFill>
                  <a:srgbClr val="2D3748"/>
                </a:solidFill>
              </a:rPr>
              <a:t>• Mixed technologies — different scenario types and backends require custom integrations every time</a:t>
            </a:r>
            <a:endParaRPr lang="en-US" sz="1400" dirty="0"/>
          </a:p>
          <a:p>
            <a:pPr indent="0" marL="0">
              <a:buNone/>
            </a:pPr>
            <a:r>
              <a:rPr lang="en-US" sz="1400" dirty="0">
                <a:solidFill>
                  <a:srgbClr val="2D3748"/>
                </a:solidFill>
              </a:rPr>
              <a:t>• Real-time needs — exercises need timers, draft saving, and instant submit; hard to do well ad hoc</a:t>
            </a:r>
            <a:endParaRPr lang="en-US" sz="1400" dirty="0"/>
          </a:p>
          <a:p>
            <a:pPr indent="0" marL="0">
              <a:buNone/>
            </a:pPr>
            <a:r>
              <a:rPr lang="en-US" sz="1400" dirty="0">
                <a:solidFill>
                  <a:srgbClr val="2D3748"/>
                </a:solidFill>
              </a:rPr>
              <a:t>• Scale and reliability — more users and scenarios demand a single, robust frontend that works everywhere</a:t>
            </a:r>
            <a:endParaRPr lang="en-US" sz="1400" dirty="0"/>
          </a:p>
        </p:txBody>
      </p:sp>
      <p:sp>
        <p:nvSpPr>
          <p:cNvPr id="5" name="Text 3"/>
          <p:cNvSpPr/>
          <p:nvPr/>
        </p:nvSpPr>
        <p:spPr>
          <a:xfrm>
            <a:off x="457200" y="4023360"/>
            <a:ext cx="8229600" cy="548640"/>
          </a:xfrm>
          <a:prstGeom prst="rect">
            <a:avLst/>
          </a:prstGeom>
          <a:noFill/>
          <a:ln/>
        </p:spPr>
        <p:txBody>
          <a:bodyPr wrap="square" rtlCol="0" anchor="ctr"/>
          <a:lstStyle/>
          <a:p>
            <a:pPr algn="ctr" indent="0" marL="0">
              <a:buNone/>
            </a:pPr>
            <a:r>
              <a:rPr lang="en-US" sz="1400" i="1" dirty="0">
                <a:solidFill>
                  <a:srgbClr val="2B6CB0"/>
                </a:solidFill>
              </a:rPr>
              <a:t>"Instead of building one-off UIs per project, we designed a modular, reusable platform."</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A365D"/>
                </a:solidFill>
              </a:rPr>
              <a:t>The Solution: Scenario Builder</a:t>
            </a:r>
            <a:endParaRPr lang="en-US" sz="3200" dirty="0"/>
          </a:p>
        </p:txBody>
      </p:sp>
      <p:sp>
        <p:nvSpPr>
          <p:cNvPr id="3" name="Text 1"/>
          <p:cNvSpPr/>
          <p:nvPr/>
        </p:nvSpPr>
        <p:spPr>
          <a:xfrm>
            <a:off x="548640" y="914400"/>
            <a:ext cx="8046720" cy="2926080"/>
          </a:xfrm>
          <a:prstGeom prst="rect">
            <a:avLst/>
          </a:prstGeom>
          <a:noFill/>
          <a:ln/>
        </p:spPr>
        <p:txBody>
          <a:bodyPr wrap="square" rtlCol="0" anchor="t"/>
          <a:lstStyle/>
          <a:p>
            <a:pPr indent="0" marL="0">
              <a:buNone/>
            </a:pPr>
            <a:r>
              <a:rPr lang="en-US" sz="1400" dirty="0">
                <a:solidFill>
                  <a:srgbClr val="2D3748"/>
                </a:solidFill>
              </a:rPr>
              <a:t>• One place — run exercises, track assignments, and view analytics in a single, secure application</a:t>
            </a:r>
            <a:endParaRPr lang="en-US" sz="1400" dirty="0"/>
          </a:p>
          <a:p>
            <a:pPr indent="0" marL="0">
              <a:buNone/>
            </a:pPr>
            <a:r>
              <a:rPr lang="en-US" sz="1400" dirty="0">
                <a:solidFill>
                  <a:srgbClr val="2D3748"/>
                </a:solidFill>
              </a:rPr>
              <a:t>• Real-time exercises — pick a scenario, work through incidents step-by-step with a countdown timer; save progress and submit for grading</a:t>
            </a:r>
            <a:endParaRPr lang="en-US" sz="1400" dirty="0"/>
          </a:p>
          <a:p>
            <a:pPr indent="0" marL="0">
              <a:buNone/>
            </a:pPr>
            <a:r>
              <a:rPr lang="en-US" sz="1400" dirty="0">
                <a:solidFill>
                  <a:srgbClr val="2D3748"/>
                </a:solidFill>
              </a:rPr>
              <a:t>• Clear outcomes — assignment history, per-incident scores, cohort comparison, and exportable reports (e.g. PDF)</a:t>
            </a:r>
            <a:endParaRPr lang="en-US" sz="1400" dirty="0"/>
          </a:p>
          <a:p>
            <a:pPr indent="0" marL="0">
              <a:buNone/>
            </a:pPr>
            <a:r>
              <a:rPr lang="en-US" sz="1400" dirty="0">
                <a:solidFill>
                  <a:srgbClr val="2D3748"/>
                </a:solidFill>
              </a:rPr>
              <a:t>• Secure &amp; flexible — identity and access via your existing identity provider; works across training and pilot environments</a:t>
            </a:r>
            <a:endParaRPr lang="en-US" sz="1400" dirty="0"/>
          </a:p>
        </p:txBody>
      </p:sp>
      <p:sp>
        <p:nvSpPr>
          <p:cNvPr id="4" name="Text 2"/>
          <p:cNvSpPr/>
          <p:nvPr/>
        </p:nvSpPr>
        <p:spPr>
          <a:xfrm>
            <a:off x="457200" y="4114800"/>
            <a:ext cx="8229600" cy="411480"/>
          </a:xfrm>
          <a:prstGeom prst="rect">
            <a:avLst/>
          </a:prstGeom>
          <a:noFill/>
          <a:ln/>
        </p:spPr>
        <p:txBody>
          <a:bodyPr wrap="square" rtlCol="0" anchor="ctr"/>
          <a:lstStyle/>
          <a:p>
            <a:pPr algn="ctr" indent="0" marL="0">
              <a:buNone/>
            </a:pPr>
            <a:r>
              <a:rPr lang="en-US" sz="1600" b="1" dirty="0">
                <a:solidFill>
                  <a:srgbClr val="2B6CB0"/>
                </a:solidFill>
              </a:rPr>
              <a:t>A production-ready digital backbone for scenario-based learning.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indent="0" marL="0">
              <a:buNone/>
            </a:pPr>
            <a:r>
              <a:rPr lang="en-US" sz="3200" b="1" dirty="0">
                <a:solidFill>
                  <a:srgbClr val="1A365D"/>
                </a:solidFill>
              </a:rPr>
              <a:t>How It Works</a:t>
            </a:r>
            <a:endParaRPr lang="en-US" sz="3200" dirty="0"/>
          </a:p>
        </p:txBody>
      </p:sp>
      <p:sp>
        <p:nvSpPr>
          <p:cNvPr id="3" name="Text 1"/>
          <p:cNvSpPr/>
          <p:nvPr/>
        </p:nvSpPr>
        <p:spPr>
          <a:xfrm>
            <a:off x="457200" y="685800"/>
            <a:ext cx="8229600" cy="274320"/>
          </a:xfrm>
          <a:prstGeom prst="rect">
            <a:avLst/>
          </a:prstGeom>
          <a:noFill/>
          <a:ln/>
        </p:spPr>
        <p:txBody>
          <a:bodyPr wrap="square" rtlCol="0" anchor="ctr"/>
          <a:lstStyle/>
          <a:p>
            <a:pPr indent="0" marL="0">
              <a:buNone/>
            </a:pPr>
            <a:r>
              <a:rPr lang="en-US" sz="1600" dirty="0">
                <a:solidFill>
                  <a:srgbClr val="2D3748"/>
                </a:solidFill>
              </a:rPr>
              <a:t>End-to-end flow in one platform</a:t>
            </a:r>
            <a:endParaRPr lang="en-US" sz="1600" dirty="0"/>
          </a:p>
        </p:txBody>
      </p:sp>
      <p:sp>
        <p:nvSpPr>
          <p:cNvPr id="4" name="Shape 2"/>
          <p:cNvSpPr/>
          <p:nvPr/>
        </p:nvSpPr>
        <p:spPr>
          <a:xfrm>
            <a:off x="548640" y="1828800"/>
            <a:ext cx="1371600" cy="822960"/>
          </a:xfrm>
          <a:prstGeom prst="rect">
            <a:avLst>
              <a:gd name="adj" fmla="val 11111"/>
            </a:avLst>
          </a:prstGeom>
          <a:solidFill>
            <a:srgbClr val="2B6CB0"/>
          </a:solidFill>
          <a:ln w="12700">
            <a:solidFill>
              <a:srgbClr val="1A365D"/>
            </a:solidFill>
            <a:prstDash val="solid"/>
          </a:ln>
        </p:spPr>
      </p:sp>
      <p:sp>
        <p:nvSpPr>
          <p:cNvPr id="5" name="Text 3"/>
          <p:cNvSpPr/>
          <p:nvPr/>
        </p:nvSpPr>
        <p:spPr>
          <a:xfrm>
            <a:off x="594360" y="2011680"/>
            <a:ext cx="1280160" cy="365760"/>
          </a:xfrm>
          <a:prstGeom prst="rect">
            <a:avLst/>
          </a:prstGeom>
          <a:noFill/>
          <a:ln/>
        </p:spPr>
        <p:txBody>
          <a:bodyPr wrap="square" rtlCol="0" anchor="ctr"/>
          <a:lstStyle/>
          <a:p>
            <a:pPr algn="ctr" indent="0" marL="0">
              <a:buNone/>
            </a:pPr>
            <a:r>
              <a:rPr lang="en-US" sz="1200" b="1" dirty="0">
                <a:solidFill>
                  <a:srgbClr val="FFFFFF"/>
                </a:solidFill>
              </a:rPr>
              <a:t>Scenarios</a:t>
            </a:r>
            <a:endParaRPr lang="en-US" sz="1200" dirty="0"/>
          </a:p>
        </p:txBody>
      </p:sp>
      <p:sp>
        <p:nvSpPr>
          <p:cNvPr id="6" name="Text 4"/>
          <p:cNvSpPr/>
          <p:nvPr/>
        </p:nvSpPr>
        <p:spPr>
          <a:xfrm>
            <a:off x="594360" y="2331720"/>
            <a:ext cx="1280160" cy="274320"/>
          </a:xfrm>
          <a:prstGeom prst="rect">
            <a:avLst/>
          </a:prstGeom>
          <a:noFill/>
          <a:ln/>
        </p:spPr>
        <p:txBody>
          <a:bodyPr wrap="square" rtlCol="0" anchor="ctr"/>
          <a:lstStyle/>
          <a:p>
            <a:pPr algn="ctr" indent="0" marL="0">
              <a:buNone/>
            </a:pPr>
            <a:r>
              <a:rPr lang="en-US" sz="900" dirty="0">
                <a:solidFill>
                  <a:srgbClr val="E2E8F0"/>
                </a:solidFill>
              </a:rPr>
              <a:t>Catalogue</a:t>
            </a:r>
            <a:endParaRPr lang="en-US" sz="900" dirty="0"/>
          </a:p>
        </p:txBody>
      </p:sp>
      <p:sp>
        <p:nvSpPr>
          <p:cNvPr id="7" name="Shape 5"/>
          <p:cNvSpPr/>
          <p:nvPr/>
        </p:nvSpPr>
        <p:spPr>
          <a:xfrm>
            <a:off x="1920240" y="2240280"/>
            <a:ext cx="228600" cy="0"/>
          </a:xfrm>
          <a:prstGeom prst="line">
            <a:avLst/>
          </a:prstGeom>
          <a:noFill/>
          <a:ln w="25400">
            <a:solidFill>
              <a:srgbClr val="1A365D"/>
            </a:solidFill>
            <a:prstDash val="solid"/>
            <a:tailEnd type="triangle"/>
          </a:ln>
        </p:spPr>
      </p:sp>
      <p:sp>
        <p:nvSpPr>
          <p:cNvPr id="8" name="Shape 6"/>
          <p:cNvSpPr/>
          <p:nvPr/>
        </p:nvSpPr>
        <p:spPr>
          <a:xfrm>
            <a:off x="2240280" y="1828800"/>
            <a:ext cx="1371600" cy="822960"/>
          </a:xfrm>
          <a:prstGeom prst="rect">
            <a:avLst>
              <a:gd name="adj" fmla="val 11111"/>
            </a:avLst>
          </a:prstGeom>
          <a:solidFill>
            <a:srgbClr val="2B6CB0"/>
          </a:solidFill>
          <a:ln w="12700">
            <a:solidFill>
              <a:srgbClr val="1A365D"/>
            </a:solidFill>
            <a:prstDash val="solid"/>
          </a:ln>
        </p:spPr>
      </p:sp>
      <p:sp>
        <p:nvSpPr>
          <p:cNvPr id="9" name="Text 7"/>
          <p:cNvSpPr/>
          <p:nvPr/>
        </p:nvSpPr>
        <p:spPr>
          <a:xfrm>
            <a:off x="2286000" y="2011680"/>
            <a:ext cx="1280160" cy="365760"/>
          </a:xfrm>
          <a:prstGeom prst="rect">
            <a:avLst/>
          </a:prstGeom>
          <a:noFill/>
          <a:ln/>
        </p:spPr>
        <p:txBody>
          <a:bodyPr wrap="square" rtlCol="0" anchor="ctr"/>
          <a:lstStyle/>
          <a:p>
            <a:pPr algn="ctr" indent="0" marL="0">
              <a:buNone/>
            </a:pPr>
            <a:r>
              <a:rPr lang="en-US" sz="1200" b="1" dirty="0">
                <a:solidFill>
                  <a:srgbClr val="FFFFFF"/>
                </a:solidFill>
              </a:rPr>
              <a:t>Start</a:t>
            </a:r>
            <a:endParaRPr lang="en-US" sz="1200" dirty="0"/>
          </a:p>
        </p:txBody>
      </p:sp>
      <p:sp>
        <p:nvSpPr>
          <p:cNvPr id="10" name="Text 8"/>
          <p:cNvSpPr/>
          <p:nvPr/>
        </p:nvSpPr>
        <p:spPr>
          <a:xfrm>
            <a:off x="2286000" y="2331720"/>
            <a:ext cx="1280160" cy="274320"/>
          </a:xfrm>
          <a:prstGeom prst="rect">
            <a:avLst/>
          </a:prstGeom>
          <a:noFill/>
          <a:ln/>
        </p:spPr>
        <p:txBody>
          <a:bodyPr wrap="square" rtlCol="0" anchor="ctr"/>
          <a:lstStyle/>
          <a:p>
            <a:pPr algn="ctr" indent="0" marL="0">
              <a:buNone/>
            </a:pPr>
            <a:r>
              <a:rPr lang="en-US" sz="900" dirty="0">
                <a:solidFill>
                  <a:srgbClr val="E2E8F0"/>
                </a:solidFill>
              </a:rPr>
              <a:t>Exercise</a:t>
            </a:r>
            <a:endParaRPr lang="en-US" sz="900" dirty="0"/>
          </a:p>
        </p:txBody>
      </p:sp>
      <p:sp>
        <p:nvSpPr>
          <p:cNvPr id="11" name="Shape 9"/>
          <p:cNvSpPr/>
          <p:nvPr/>
        </p:nvSpPr>
        <p:spPr>
          <a:xfrm>
            <a:off x="3611880" y="2240280"/>
            <a:ext cx="228600" cy="0"/>
          </a:xfrm>
          <a:prstGeom prst="line">
            <a:avLst/>
          </a:prstGeom>
          <a:noFill/>
          <a:ln w="25400">
            <a:solidFill>
              <a:srgbClr val="1A365D"/>
            </a:solidFill>
            <a:prstDash val="solid"/>
            <a:tailEnd type="triangle"/>
          </a:ln>
        </p:spPr>
      </p:sp>
      <p:sp>
        <p:nvSpPr>
          <p:cNvPr id="12" name="Shape 10"/>
          <p:cNvSpPr/>
          <p:nvPr/>
        </p:nvSpPr>
        <p:spPr>
          <a:xfrm>
            <a:off x="3931920" y="1828800"/>
            <a:ext cx="1371600" cy="822960"/>
          </a:xfrm>
          <a:prstGeom prst="rect">
            <a:avLst>
              <a:gd name="adj" fmla="val 11111"/>
            </a:avLst>
          </a:prstGeom>
          <a:solidFill>
            <a:srgbClr val="2B6CB0"/>
          </a:solidFill>
          <a:ln w="12700">
            <a:solidFill>
              <a:srgbClr val="1A365D"/>
            </a:solidFill>
            <a:prstDash val="solid"/>
          </a:ln>
        </p:spPr>
      </p:sp>
      <p:sp>
        <p:nvSpPr>
          <p:cNvPr id="13" name="Text 11"/>
          <p:cNvSpPr/>
          <p:nvPr/>
        </p:nvSpPr>
        <p:spPr>
          <a:xfrm>
            <a:off x="3977640" y="2011680"/>
            <a:ext cx="1280160" cy="365760"/>
          </a:xfrm>
          <a:prstGeom prst="rect">
            <a:avLst/>
          </a:prstGeom>
          <a:noFill/>
          <a:ln/>
        </p:spPr>
        <p:txBody>
          <a:bodyPr wrap="square" rtlCol="0" anchor="ctr"/>
          <a:lstStyle/>
          <a:p>
            <a:pPr algn="ctr" indent="0" marL="0">
              <a:buNone/>
            </a:pPr>
            <a:r>
              <a:rPr lang="en-US" sz="1200" b="1" dirty="0">
                <a:solidFill>
                  <a:srgbClr val="FFFFFF"/>
                </a:solidFill>
              </a:rPr>
              <a:t>Incidents</a:t>
            </a:r>
            <a:endParaRPr lang="en-US" sz="1200" dirty="0"/>
          </a:p>
        </p:txBody>
      </p:sp>
      <p:sp>
        <p:nvSpPr>
          <p:cNvPr id="14" name="Text 12"/>
          <p:cNvSpPr/>
          <p:nvPr/>
        </p:nvSpPr>
        <p:spPr>
          <a:xfrm>
            <a:off x="3977640" y="2331720"/>
            <a:ext cx="1280160" cy="274320"/>
          </a:xfrm>
          <a:prstGeom prst="rect">
            <a:avLst/>
          </a:prstGeom>
          <a:noFill/>
          <a:ln/>
        </p:spPr>
        <p:txBody>
          <a:bodyPr wrap="square" rtlCol="0" anchor="ctr"/>
          <a:lstStyle/>
          <a:p>
            <a:pPr algn="ctr" indent="0" marL="0">
              <a:buNone/>
            </a:pPr>
            <a:r>
              <a:rPr lang="en-US" sz="900" dirty="0">
                <a:solidFill>
                  <a:srgbClr val="E2E8F0"/>
                </a:solidFill>
              </a:rPr>
              <a:t>Timer &amp; draft</a:t>
            </a:r>
            <a:endParaRPr lang="en-US" sz="900" dirty="0"/>
          </a:p>
        </p:txBody>
      </p:sp>
      <p:sp>
        <p:nvSpPr>
          <p:cNvPr id="15" name="Shape 13"/>
          <p:cNvSpPr/>
          <p:nvPr/>
        </p:nvSpPr>
        <p:spPr>
          <a:xfrm>
            <a:off x="5303520" y="2240280"/>
            <a:ext cx="228600" cy="0"/>
          </a:xfrm>
          <a:prstGeom prst="line">
            <a:avLst/>
          </a:prstGeom>
          <a:noFill/>
          <a:ln w="25400">
            <a:solidFill>
              <a:srgbClr val="1A365D"/>
            </a:solidFill>
            <a:prstDash val="solid"/>
            <a:tailEnd type="triangle"/>
          </a:ln>
        </p:spPr>
      </p:sp>
      <p:sp>
        <p:nvSpPr>
          <p:cNvPr id="16" name="Shape 14"/>
          <p:cNvSpPr/>
          <p:nvPr/>
        </p:nvSpPr>
        <p:spPr>
          <a:xfrm>
            <a:off x="5623560" y="1828800"/>
            <a:ext cx="1371600" cy="822960"/>
          </a:xfrm>
          <a:prstGeom prst="rect">
            <a:avLst>
              <a:gd name="adj" fmla="val 11111"/>
            </a:avLst>
          </a:prstGeom>
          <a:solidFill>
            <a:srgbClr val="2B6CB0"/>
          </a:solidFill>
          <a:ln w="12700">
            <a:solidFill>
              <a:srgbClr val="1A365D"/>
            </a:solidFill>
            <a:prstDash val="solid"/>
          </a:ln>
        </p:spPr>
      </p:sp>
      <p:sp>
        <p:nvSpPr>
          <p:cNvPr id="17" name="Text 15"/>
          <p:cNvSpPr/>
          <p:nvPr/>
        </p:nvSpPr>
        <p:spPr>
          <a:xfrm>
            <a:off x="5669280" y="2011680"/>
            <a:ext cx="1280160" cy="365760"/>
          </a:xfrm>
          <a:prstGeom prst="rect">
            <a:avLst/>
          </a:prstGeom>
          <a:noFill/>
          <a:ln/>
        </p:spPr>
        <p:txBody>
          <a:bodyPr wrap="square" rtlCol="0" anchor="ctr"/>
          <a:lstStyle/>
          <a:p>
            <a:pPr algn="ctr" indent="0" marL="0">
              <a:buNone/>
            </a:pPr>
            <a:r>
              <a:rPr lang="en-US" sz="1200" b="1" dirty="0">
                <a:solidFill>
                  <a:srgbClr val="FFFFFF"/>
                </a:solidFill>
              </a:rPr>
              <a:t>Submit</a:t>
            </a:r>
            <a:endParaRPr lang="en-US" sz="1200" dirty="0"/>
          </a:p>
        </p:txBody>
      </p:sp>
      <p:sp>
        <p:nvSpPr>
          <p:cNvPr id="18" name="Text 16"/>
          <p:cNvSpPr/>
          <p:nvPr/>
        </p:nvSpPr>
        <p:spPr>
          <a:xfrm>
            <a:off x="5669280" y="2331720"/>
            <a:ext cx="1280160" cy="274320"/>
          </a:xfrm>
          <a:prstGeom prst="rect">
            <a:avLst/>
          </a:prstGeom>
          <a:noFill/>
          <a:ln/>
        </p:spPr>
        <p:txBody>
          <a:bodyPr wrap="square" rtlCol="0" anchor="ctr"/>
          <a:lstStyle/>
          <a:p>
            <a:pPr algn="ctr" indent="0" marL="0">
              <a:buNone/>
            </a:pPr>
            <a:r>
              <a:rPr lang="en-US" sz="900" dirty="0">
                <a:solidFill>
                  <a:srgbClr val="E2E8F0"/>
                </a:solidFill>
              </a:rPr>
              <a:t>Grading</a:t>
            </a:r>
            <a:endParaRPr lang="en-US" sz="900" dirty="0"/>
          </a:p>
        </p:txBody>
      </p:sp>
      <p:sp>
        <p:nvSpPr>
          <p:cNvPr id="19" name="Shape 17"/>
          <p:cNvSpPr/>
          <p:nvPr/>
        </p:nvSpPr>
        <p:spPr>
          <a:xfrm>
            <a:off x="6995160" y="2240280"/>
            <a:ext cx="228600" cy="0"/>
          </a:xfrm>
          <a:prstGeom prst="line">
            <a:avLst/>
          </a:prstGeom>
          <a:noFill/>
          <a:ln w="25400">
            <a:solidFill>
              <a:srgbClr val="1A365D"/>
            </a:solidFill>
            <a:prstDash val="solid"/>
            <a:tailEnd type="triangle"/>
          </a:ln>
        </p:spPr>
      </p:sp>
      <p:sp>
        <p:nvSpPr>
          <p:cNvPr id="20" name="Shape 18"/>
          <p:cNvSpPr/>
          <p:nvPr/>
        </p:nvSpPr>
        <p:spPr>
          <a:xfrm>
            <a:off x="7315200" y="1828800"/>
            <a:ext cx="1371600" cy="822960"/>
          </a:xfrm>
          <a:prstGeom prst="rect">
            <a:avLst>
              <a:gd name="adj" fmla="val 11111"/>
            </a:avLst>
          </a:prstGeom>
          <a:solidFill>
            <a:srgbClr val="2B6CB0"/>
          </a:solidFill>
          <a:ln w="12700">
            <a:solidFill>
              <a:srgbClr val="1A365D"/>
            </a:solidFill>
            <a:prstDash val="solid"/>
          </a:ln>
        </p:spPr>
      </p:sp>
      <p:sp>
        <p:nvSpPr>
          <p:cNvPr id="21" name="Text 19"/>
          <p:cNvSpPr/>
          <p:nvPr/>
        </p:nvSpPr>
        <p:spPr>
          <a:xfrm>
            <a:off x="7360920" y="2011680"/>
            <a:ext cx="1280160" cy="365760"/>
          </a:xfrm>
          <a:prstGeom prst="rect">
            <a:avLst/>
          </a:prstGeom>
          <a:noFill/>
          <a:ln/>
        </p:spPr>
        <p:txBody>
          <a:bodyPr wrap="square" rtlCol="0" anchor="ctr"/>
          <a:lstStyle/>
          <a:p>
            <a:pPr algn="ctr" indent="0" marL="0">
              <a:buNone/>
            </a:pPr>
            <a:r>
              <a:rPr lang="en-US" sz="1200" b="1" dirty="0">
                <a:solidFill>
                  <a:srgbClr val="FFFFFF"/>
                </a:solidFill>
              </a:rPr>
              <a:t>Analytics</a:t>
            </a:r>
            <a:endParaRPr lang="en-US" sz="1200" dirty="0"/>
          </a:p>
        </p:txBody>
      </p:sp>
      <p:sp>
        <p:nvSpPr>
          <p:cNvPr id="22" name="Text 20"/>
          <p:cNvSpPr/>
          <p:nvPr/>
        </p:nvSpPr>
        <p:spPr>
          <a:xfrm>
            <a:off x="7360920" y="2331720"/>
            <a:ext cx="1280160" cy="274320"/>
          </a:xfrm>
          <a:prstGeom prst="rect">
            <a:avLst/>
          </a:prstGeom>
          <a:noFill/>
          <a:ln/>
        </p:spPr>
        <p:txBody>
          <a:bodyPr wrap="square" rtlCol="0" anchor="ctr"/>
          <a:lstStyle/>
          <a:p>
            <a:pPr algn="ctr" indent="0" marL="0">
              <a:buNone/>
            </a:pPr>
            <a:r>
              <a:rPr lang="en-US" sz="900" dirty="0">
                <a:solidFill>
                  <a:srgbClr val="E2E8F0"/>
                </a:solidFill>
              </a:rPr>
              <a:t>Scores &amp; PDF</a:t>
            </a:r>
            <a:endParaRPr lang="en-US" sz="900" dirty="0"/>
          </a:p>
        </p:txBody>
      </p:sp>
      <p:sp>
        <p:nvSpPr>
          <p:cNvPr id="23" name="Text 21"/>
          <p:cNvSpPr/>
          <p:nvPr/>
        </p:nvSpPr>
        <p:spPr>
          <a:xfrm>
            <a:off x="457200" y="2971800"/>
            <a:ext cx="8229600" cy="365760"/>
          </a:xfrm>
          <a:prstGeom prst="rect">
            <a:avLst/>
          </a:prstGeom>
          <a:noFill/>
          <a:ln/>
        </p:spPr>
        <p:txBody>
          <a:bodyPr wrap="square" rtlCol="0" anchor="ctr"/>
          <a:lstStyle/>
          <a:p>
            <a:pPr algn="ctr" indent="0" marL="0">
              <a:buNone/>
            </a:pPr>
            <a:r>
              <a:rPr lang="en-US" sz="1300" i="1" dirty="0">
                <a:solidFill>
                  <a:srgbClr val="2D3748"/>
                </a:solidFill>
              </a:rPr>
              <a:t>Same flow for every scenario type — configure once, reuse everywhere.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indent="0" marL="0">
              <a:buNone/>
            </a:pPr>
            <a:r>
              <a:rPr lang="en-US" sz="2800" b="1" dirty="0">
                <a:solidFill>
                  <a:srgbClr val="1A365D"/>
                </a:solidFill>
              </a:rPr>
              <a:t>How It Works — In Detail</a:t>
            </a:r>
            <a:endParaRPr lang="en-US" sz="2800" dirty="0"/>
          </a:p>
        </p:txBody>
      </p:sp>
      <p:sp>
        <p:nvSpPr>
          <p:cNvPr id="3" name="Text 1"/>
          <p:cNvSpPr/>
          <p:nvPr/>
        </p:nvSpPr>
        <p:spPr>
          <a:xfrm>
            <a:off x="502920" y="777240"/>
            <a:ext cx="8138160" cy="3931920"/>
          </a:xfrm>
          <a:prstGeom prst="rect">
            <a:avLst/>
          </a:prstGeom>
          <a:noFill/>
          <a:ln/>
        </p:spPr>
        <p:txBody>
          <a:bodyPr wrap="square" rtlCol="0" anchor="t"/>
          <a:lstStyle/>
          <a:p>
            <a:pPr indent="0" marL="0">
              <a:buNone/>
            </a:pPr>
            <a:r>
              <a:rPr lang="en-US" sz="1100" dirty="0">
                <a:solidFill>
                  <a:srgbClr val="2D3748"/>
                </a:solidFill>
              </a:rPr>
              <a:t>1. Scenarios — User browses the scenario catalogue (filterable table), picks a scenario, and clicks "Start Simulation". An assignment is created and linked to that scenario.</a:t>
            </a:r>
            <a:endParaRPr lang="en-US" sz="1100" dirty="0"/>
          </a:p>
          <a:p>
            <a:pPr indent="0" marL="0">
              <a:buNone/>
            </a:pPr>
            <a:endParaRPr lang="en-US" sz="1100" dirty="0"/>
          </a:p>
          <a:p>
            <a:pPr indent="0" marL="0">
              <a:buNone/>
            </a:pPr>
            <a:r>
              <a:rPr lang="en-US" sz="1100" dirty="0">
                <a:solidFill>
                  <a:srgbClr val="2D3748"/>
                </a:solidFill>
              </a:rPr>
              <a:t>2. Start exercise — The app switches to simulation mode (full-screen, no sidebar): one scenario, one attempt. The user is ready to work through incidents.</a:t>
            </a:r>
            <a:endParaRPr lang="en-US" sz="1100" dirty="0"/>
          </a:p>
          <a:p>
            <a:pPr indent="0" marL="0">
              <a:buNone/>
            </a:pPr>
            <a:endParaRPr lang="en-US" sz="1100" dirty="0"/>
          </a:p>
          <a:p>
            <a:pPr indent="0" marL="0">
              <a:buNone/>
            </a:pPr>
            <a:r>
              <a:rPr lang="en-US" sz="1100" dirty="0">
                <a:solidFill>
                  <a:srgbClr val="2D3748"/>
                </a:solidFill>
              </a:rPr>
              <a:t>3. Incidents — For each incident the user sees: title, timestamp, description, and inject. They type their response in a text area; draft is saved automatically. A countdown timer runs; "Next" moves to the next incident (with confirmation). Progress can be resumed after refresh.</a:t>
            </a:r>
            <a:endParaRPr lang="en-US" sz="1100" dirty="0"/>
          </a:p>
          <a:p>
            <a:pPr indent="0" marL="0">
              <a:buNone/>
            </a:pPr>
            <a:endParaRPr lang="en-US" sz="1100" dirty="0"/>
          </a:p>
          <a:p>
            <a:pPr indent="0" marL="0">
              <a:buNone/>
            </a:pPr>
            <a:r>
              <a:rPr lang="en-US" sz="1100" dirty="0">
                <a:solidFill>
                  <a:srgbClr val="2D3748"/>
                </a:solidFill>
              </a:rPr>
              <a:t>4. Submit — When all incidents are completed or the timer reaches zero, the user submits. The full solution is sent for grading. Results are stored and the user returns to the main app.</a:t>
            </a:r>
            <a:endParaRPr lang="en-US" sz="1100" dirty="0"/>
          </a:p>
          <a:p>
            <a:pPr indent="0" marL="0">
              <a:buNone/>
            </a:pPr>
            <a:endParaRPr lang="en-US" sz="1100" dirty="0"/>
          </a:p>
          <a:p>
            <a:pPr indent="0" marL="0">
              <a:buNone/>
            </a:pPr>
            <a:r>
              <a:rPr lang="en-US" sz="1100" dirty="0">
                <a:solidFill>
                  <a:srgbClr val="2D3748"/>
                </a:solidFill>
              </a:rPr>
              <a:t>5. Analytics — User sees assignment history with overall scores, can open per-assignment details (grade per incident, charts), and view user/cohort analytics (percentile, comparison charts). Reports can be exported to PDF.</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3200" b="1" dirty="0">
                <a:solidFill>
                  <a:srgbClr val="1A365D"/>
                </a:solidFill>
              </a:rPr>
              <a:t>Why It Matters</a:t>
            </a:r>
            <a:endParaRPr lang="en-US" sz="3200" dirty="0"/>
          </a:p>
        </p:txBody>
      </p:sp>
      <p:sp>
        <p:nvSpPr>
          <p:cNvPr id="3" name="Text 1"/>
          <p:cNvSpPr/>
          <p:nvPr/>
        </p:nvSpPr>
        <p:spPr>
          <a:xfrm>
            <a:off x="457200" y="777240"/>
            <a:ext cx="8229600" cy="320040"/>
          </a:xfrm>
          <a:prstGeom prst="rect">
            <a:avLst/>
          </a:prstGeom>
          <a:noFill/>
          <a:ln/>
        </p:spPr>
        <p:txBody>
          <a:bodyPr wrap="square" rtlCol="0" anchor="ctr"/>
          <a:lstStyle/>
          <a:p>
            <a:pPr indent="0" marL="0">
              <a:buNone/>
            </a:pPr>
            <a:r>
              <a:rPr lang="en-US" sz="1800" dirty="0">
                <a:solidFill>
                  <a:srgbClr val="2D3748"/>
                </a:solidFill>
              </a:rPr>
              <a:t>Strategic value</a:t>
            </a:r>
            <a:endParaRPr lang="en-US" sz="1800" dirty="0"/>
          </a:p>
        </p:txBody>
      </p:sp>
      <p:sp>
        <p:nvSpPr>
          <p:cNvPr id="4" name="Text 2"/>
          <p:cNvSpPr/>
          <p:nvPr/>
        </p:nvSpPr>
        <p:spPr>
          <a:xfrm>
            <a:off x="548640" y="1234440"/>
            <a:ext cx="8046720" cy="2377440"/>
          </a:xfrm>
          <a:prstGeom prst="rect">
            <a:avLst/>
          </a:prstGeom>
          <a:noFill/>
          <a:ln/>
        </p:spPr>
        <p:txBody>
          <a:bodyPr wrap="square" rtlCol="0" anchor="t"/>
          <a:lstStyle/>
          <a:p>
            <a:pPr indent="0" marL="0">
              <a:buNone/>
            </a:pPr>
            <a:r>
              <a:rPr lang="en-US" sz="1400" dirty="0">
                <a:solidFill>
                  <a:srgbClr val="2D3748"/>
                </a:solidFill>
              </a:rPr>
              <a:t>• Stop reinventing — Reuse the same platform for new scenarios and clients instead of building one-off training UIs.</a:t>
            </a:r>
            <a:endParaRPr lang="en-US" sz="1400" dirty="0"/>
          </a:p>
          <a:p>
            <a:pPr indent="0" marL="0">
              <a:buNone/>
            </a:pPr>
            <a:r>
              <a:rPr lang="en-US" sz="1400" dirty="0">
                <a:solidFill>
                  <a:srgbClr val="2D3748"/>
                </a:solidFill>
              </a:rPr>
              <a:t>• Build lasting IP — One reusable flow becomes your standard for training products.</a:t>
            </a:r>
            <a:endParaRPr lang="en-US" sz="1400" dirty="0"/>
          </a:p>
          <a:p>
            <a:pPr indent="0" marL="0">
              <a:buNone/>
            </a:pPr>
            <a:r>
              <a:rPr lang="en-US" sz="1400" dirty="0">
                <a:solidFill>
                  <a:srgbClr val="2D3748"/>
                </a:solidFill>
              </a:rPr>
              <a:t>• Scale with confidence — One architecture for many domains: incident response, assessments, cohort analytics.</a:t>
            </a:r>
            <a:endParaRPr lang="en-US" sz="1400" dirty="0"/>
          </a:p>
          <a:p>
            <a:pPr indent="0" marL="0">
              <a:buNone/>
            </a:pPr>
            <a:r>
              <a:rPr lang="en-US" sz="1400" dirty="0">
                <a:solidFill>
                  <a:srgbClr val="2D3748"/>
                </a:solidFill>
              </a:rPr>
              <a:t>• Trust and compliance — Centralised identity, secure access, and consistent integration simplify security and audit.</a:t>
            </a:r>
            <a:endParaRPr lang="en-US" sz="1400" dirty="0"/>
          </a:p>
        </p:txBody>
      </p:sp>
      <p:sp>
        <p:nvSpPr>
          <p:cNvPr id="5" name="Text 3"/>
          <p:cNvSpPr/>
          <p:nvPr/>
        </p:nvSpPr>
        <p:spPr>
          <a:xfrm>
            <a:off x="457200" y="3794760"/>
            <a:ext cx="8229600" cy="457200"/>
          </a:xfrm>
          <a:prstGeom prst="rect">
            <a:avLst/>
          </a:prstGeom>
          <a:noFill/>
          <a:ln/>
        </p:spPr>
        <p:txBody>
          <a:bodyPr wrap="square" rtlCol="0" anchor="ctr"/>
          <a:lstStyle/>
          <a:p>
            <a:pPr algn="ctr" indent="0" marL="0">
              <a:buNone/>
            </a:pPr>
            <a:r>
              <a:rPr lang="en-US" sz="1400" i="1" dirty="0">
                <a:solidFill>
                  <a:srgbClr val="2B6CB0"/>
                </a:solidFill>
              </a:rPr>
              <a:t>"Transforms project execution capability into strategic digital leverage."</a:t>
            </a:r>
            <a:endParaRPr lang="en-US" sz="1400" dirty="0"/>
          </a:p>
        </p:txBody>
      </p:sp>
      <p:sp>
        <p:nvSpPr>
          <p:cNvPr id="6" name="Text 4"/>
          <p:cNvSpPr/>
          <p:nvPr/>
        </p:nvSpPr>
        <p:spPr>
          <a:xfrm>
            <a:off x="457200" y="4343400"/>
            <a:ext cx="8229600" cy="457200"/>
          </a:xfrm>
          <a:prstGeom prst="rect">
            <a:avLst/>
          </a:prstGeom>
          <a:noFill/>
          <a:ln/>
        </p:spPr>
        <p:txBody>
          <a:bodyPr wrap="square" rtlCol="0" anchor="ctr"/>
          <a:lstStyle/>
          <a:p>
            <a:pPr algn="ctr" indent="0" marL="0">
              <a:buNone/>
            </a:pPr>
            <a:r>
              <a:rPr lang="en-US" sz="1300" b="1" dirty="0">
                <a:solidFill>
                  <a:srgbClr val="1A365D"/>
                </a:solidFill>
              </a:rPr>
              <a:t>We deliver a production-ready training platform — scalable digital foundations for the long term.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828800"/>
            <a:ext cx="8229600" cy="731520"/>
          </a:xfrm>
          <a:prstGeom prst="rect">
            <a:avLst/>
          </a:prstGeom>
          <a:noFill/>
          <a:ln/>
        </p:spPr>
        <p:txBody>
          <a:bodyPr wrap="square" rtlCol="0" anchor="ctr"/>
          <a:lstStyle/>
          <a:p>
            <a:pPr algn="ctr" indent="0" marL="0">
              <a:buNone/>
            </a:pPr>
            <a:r>
              <a:rPr lang="en-US" sz="4000" b="1" dirty="0">
                <a:solidFill>
                  <a:srgbClr val="FFFFFF"/>
                </a:solidFill>
              </a:rPr>
              <a:t>Thank you</a:t>
            </a:r>
            <a:endParaRPr lang="en-US" sz="4000" dirty="0"/>
          </a:p>
        </p:txBody>
      </p:sp>
      <p:sp>
        <p:nvSpPr>
          <p:cNvPr id="3" name="Text 1"/>
          <p:cNvSpPr/>
          <p:nvPr/>
        </p:nvSpPr>
        <p:spPr>
          <a:xfrm>
            <a:off x="457200" y="2606040"/>
            <a:ext cx="8229600" cy="457200"/>
          </a:xfrm>
          <a:prstGeom prst="rect">
            <a:avLst/>
          </a:prstGeom>
          <a:noFill/>
          <a:ln/>
        </p:spPr>
        <p:txBody>
          <a:bodyPr wrap="square" rtlCol="0" anchor="ctr"/>
          <a:lstStyle/>
          <a:p>
            <a:pPr algn="ctr" indent="0" marL="0">
              <a:buNone/>
            </a:pPr>
            <a:r>
              <a:rPr lang="en-US" sz="1800" dirty="0">
                <a:solidFill>
                  <a:srgbClr val="CBD5E0"/>
                </a:solidFill>
              </a:rPr>
              <a:t>Scenario Builder — One platform. Many scenarios. One coherent experience.</a:t>
            </a:r>
            <a:endParaRPr lang="en-US" sz="1800" dirty="0"/>
          </a:p>
        </p:txBody>
      </p:sp>
      <p:sp>
        <p:nvSpPr>
          <p:cNvPr id="4" name="Text 2"/>
          <p:cNvSpPr/>
          <p:nvPr/>
        </p:nvSpPr>
        <p:spPr>
          <a:xfrm>
            <a:off x="457200" y="4389120"/>
            <a:ext cx="8229600" cy="320040"/>
          </a:xfrm>
          <a:prstGeom prst="rect">
            <a:avLst/>
          </a:prstGeom>
          <a:noFill/>
          <a:ln/>
        </p:spPr>
        <p:txBody>
          <a:bodyPr wrap="square" rtlCol="0" anchor="ctr"/>
          <a:lstStyle/>
          <a:p>
            <a:pPr algn="ctr" indent="0" marL="0">
              <a:buNone/>
            </a:pPr>
            <a:r>
              <a:rPr lang="en-US" sz="1200" dirty="0">
                <a:solidFill>
                  <a:srgbClr val="A0AEC0"/>
                </a:solidFill>
              </a:rPr>
              <a:t>Netcompany — Research &amp; Innovation Development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Netcompany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 Builder — Platform Overview</dc:title>
  <dc:subject>Scenario-based training and assessment platform</dc:subject>
  <dc:creator>Netcompany — Research &amp; Innovation Development</dc:creator>
  <cp:lastModifiedBy>Netcompany — Research &amp; Innovation Development</cp:lastModifiedBy>
  <cp:revision>1</cp:revision>
  <dcterms:created xsi:type="dcterms:W3CDTF">2026-03-03T14:29:23Z</dcterms:created>
  <dcterms:modified xsi:type="dcterms:W3CDTF">2026-03-03T14:29:23Z</dcterms:modified>
</cp:coreProperties>
</file>